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F2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F2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F2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6613" y="6286571"/>
            <a:ext cx="2933333" cy="4444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6516" y="1850748"/>
            <a:ext cx="4465642" cy="283431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F2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6612" y="6286571"/>
            <a:ext cx="2933333" cy="4444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" y="0"/>
            <a:ext cx="12190815" cy="66940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6613" y="6286571"/>
            <a:ext cx="2933333" cy="4444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9121" y="94774"/>
            <a:ext cx="8867140" cy="6422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F2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6950" y="2152650"/>
            <a:ext cx="4999990" cy="2321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4924" y="3886200"/>
            <a:ext cx="8534400" cy="86132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412875" marR="5080" indent="-1400175">
              <a:lnSpc>
                <a:spcPct val="101200"/>
              </a:lnSpc>
              <a:spcBef>
                <a:spcPts val="60"/>
              </a:spcBef>
            </a:pPr>
            <a:r>
              <a:rPr lang="en-GB" sz="2800" b="1" dirty="0"/>
              <a:t>Books to Scrape: Web Scraping and Exploratory Data Analysis Using Python</a:t>
            </a:r>
            <a:endParaRPr sz="2800" b="1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38600" y="5791200"/>
            <a:ext cx="43986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"/>
                <a:cs typeface="Arial"/>
              </a:rPr>
              <a:t>Presented</a:t>
            </a:r>
            <a:r>
              <a:rPr sz="1900" spc="-5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By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:-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lang="en-IN" sz="1900" spc="-55" dirty="0">
                <a:latin typeface="Arial"/>
                <a:cs typeface="Arial"/>
              </a:rPr>
              <a:t>Vishal Sanjay Raut</a:t>
            </a:r>
            <a:endParaRPr sz="1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933" rIns="0" bIns="0" rtlCol="0">
            <a:spAutoFit/>
          </a:bodyPr>
          <a:lstStyle/>
          <a:p>
            <a:pPr marL="326072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</a:rPr>
              <a:t>About</a:t>
            </a:r>
            <a:r>
              <a:rPr sz="3200" spc="-45" dirty="0">
                <a:solidFill>
                  <a:srgbClr val="FF0000"/>
                </a:solidFill>
              </a:rPr>
              <a:t> </a:t>
            </a:r>
            <a:r>
              <a:rPr sz="3200" spc="-25" dirty="0">
                <a:solidFill>
                  <a:srgbClr val="FF0000"/>
                </a:solidFill>
              </a:rPr>
              <a:t>me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91136" y="1252202"/>
            <a:ext cx="6828155" cy="41015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23215" algn="l"/>
                <a:tab pos="1460500" algn="l"/>
              </a:tabLst>
            </a:pPr>
            <a:r>
              <a:rPr sz="2400" b="1" dirty="0">
                <a:latin typeface="Calibri"/>
                <a:cs typeface="Calibri"/>
              </a:rPr>
              <a:t>Name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:-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lang="en-IN" sz="2400" b="1" dirty="0">
                <a:latin typeface="Calibri"/>
                <a:cs typeface="Calibri"/>
              </a:rPr>
              <a:t>Vishal Sanjay Raut</a:t>
            </a:r>
            <a:r>
              <a:rPr sz="2400" spc="-5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23850" marR="30480" indent="-285750">
              <a:lnSpc>
                <a:spcPct val="100699"/>
              </a:lnSpc>
              <a:buFont typeface="Arial"/>
              <a:buChar char="•"/>
              <a:tabLst>
                <a:tab pos="323850" algn="l"/>
              </a:tabLst>
            </a:pPr>
            <a:r>
              <a:rPr sz="2400" b="1" dirty="0">
                <a:latin typeface="Calibri"/>
                <a:cs typeface="Calibri"/>
              </a:rPr>
              <a:t>Education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:-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lang="en-IN" sz="2400" spc="-40" dirty="0">
                <a:latin typeface="Calibri"/>
                <a:cs typeface="Calibri"/>
              </a:rPr>
              <a:t>Pune District Education Association College of Engineering Pune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23215" indent="-28511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23215" algn="l"/>
              </a:tabLst>
            </a:pPr>
            <a:r>
              <a:rPr sz="2400" b="1" dirty="0">
                <a:latin typeface="Calibri"/>
                <a:cs typeface="Calibri"/>
              </a:rPr>
              <a:t>Why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Want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90" dirty="0">
                <a:latin typeface="Calibri"/>
                <a:cs typeface="Calibri"/>
              </a:rPr>
              <a:t>To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Learn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lang="en-IN" sz="2400" b="1" spc="-60" dirty="0">
                <a:latin typeface="Calibri"/>
                <a:cs typeface="Calibri"/>
              </a:rPr>
              <a:t>Analyst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:-</a:t>
            </a:r>
            <a:endParaRPr sz="2400" dirty="0">
              <a:latin typeface="Calibri"/>
              <a:cs typeface="Calibri"/>
            </a:endParaRPr>
          </a:p>
          <a:p>
            <a:pPr marL="323850" marR="88265">
              <a:lnSpc>
                <a:spcPct val="100699"/>
              </a:lnSpc>
            </a:pPr>
            <a:r>
              <a:rPr lang="en-GB" sz="2400" dirty="0"/>
              <a:t>I enjoy understanding patterns behind data and explaining them clearly, which is why Data Analytics perfectly matches my problem-solving and presentation skills </a:t>
            </a:r>
          </a:p>
          <a:p>
            <a:pPr marL="323850" marR="88265">
              <a:lnSpc>
                <a:spcPct val="100699"/>
              </a:lnSpc>
            </a:pPr>
            <a:r>
              <a:rPr sz="2400" b="1" dirty="0">
                <a:latin typeface="Calibri"/>
                <a:cs typeface="Calibri"/>
              </a:rPr>
              <a:t>Connect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:-</a:t>
            </a:r>
            <a:endParaRPr sz="2400" dirty="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0"/>
              </a:spcBef>
            </a:pPr>
            <a:r>
              <a:rPr sz="2400" b="1" dirty="0">
                <a:latin typeface="Calibri"/>
                <a:cs typeface="Calibri"/>
              </a:rPr>
              <a:t>LinkedIn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-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www.linkedin.com/in/</a:t>
            </a:r>
            <a:r>
              <a:rPr lang="en-IN" sz="2400" spc="-10" dirty="0" err="1">
                <a:latin typeface="Calibri"/>
                <a:cs typeface="Calibri"/>
              </a:rPr>
              <a:t>vishalraut</a:t>
            </a:r>
            <a:endParaRPr sz="2400" dirty="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0"/>
              </a:spcBef>
            </a:pPr>
            <a:r>
              <a:rPr sz="2400" b="1" dirty="0">
                <a:latin typeface="Calibri"/>
                <a:cs typeface="Calibri"/>
              </a:rPr>
              <a:t>GitHub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-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https://github.com/</a:t>
            </a:r>
            <a:r>
              <a:rPr lang="en-IN" sz="2400" spc="-10" dirty="0" err="1">
                <a:latin typeface="Calibri"/>
                <a:cs typeface="Calibri"/>
              </a:rPr>
              <a:t>vishalraut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903" rIns="0" bIns="0" rtlCol="0">
            <a:spAutoFit/>
          </a:bodyPr>
          <a:lstStyle/>
          <a:p>
            <a:pPr marL="235331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10A2C"/>
                </a:solidFill>
              </a:rPr>
              <a:t>Business</a:t>
            </a:r>
            <a:r>
              <a:rPr sz="3200" spc="-40" dirty="0">
                <a:solidFill>
                  <a:srgbClr val="F10A2C"/>
                </a:solidFill>
              </a:rPr>
              <a:t> </a:t>
            </a:r>
            <a:r>
              <a:rPr sz="3200" spc="-10" dirty="0">
                <a:solidFill>
                  <a:srgbClr val="F10A2C"/>
                </a:solidFill>
              </a:rPr>
              <a:t>Objectives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045490" y="1230976"/>
            <a:ext cx="9375140" cy="3334246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30200" marR="95885" indent="-317500">
              <a:lnSpc>
                <a:spcPts val="2500"/>
              </a:lnSpc>
              <a:spcBef>
                <a:spcPts val="200"/>
              </a:spcBef>
              <a:buChar char="•"/>
              <a:tabLst>
                <a:tab pos="330200" algn="l"/>
              </a:tabLst>
            </a:pPr>
            <a:r>
              <a:rPr lang="en-GB" sz="2000" dirty="0"/>
              <a:t>To </a:t>
            </a:r>
            <a:r>
              <a:rPr lang="en-GB" sz="2000" b="1" dirty="0"/>
              <a:t>collect structured book data such as price, rating, and availability </a:t>
            </a:r>
            <a:r>
              <a:rPr lang="en-GB" sz="2000" dirty="0"/>
              <a:t>from(</a:t>
            </a:r>
            <a:r>
              <a:rPr lang="en-GB" sz="2000" dirty="0" err="1"/>
              <a:t>Datset</a:t>
            </a:r>
            <a:r>
              <a:rPr lang="en-GB" sz="2000" dirty="0"/>
              <a:t> ss?) an online source using automated web scraping.</a:t>
            </a:r>
          </a:p>
          <a:p>
            <a:pPr marL="330200" marR="95885" indent="-317500">
              <a:lnSpc>
                <a:spcPts val="2500"/>
              </a:lnSpc>
              <a:spcBef>
                <a:spcPts val="200"/>
              </a:spcBef>
              <a:buChar char="•"/>
              <a:tabLst>
                <a:tab pos="330200" algn="l"/>
              </a:tabLst>
            </a:pPr>
            <a:r>
              <a:rPr lang="en-GB" sz="2000" dirty="0"/>
              <a:t>To </a:t>
            </a:r>
            <a:r>
              <a:rPr lang="en-GB" sz="2000" b="1" dirty="0" err="1"/>
              <a:t>analyze</a:t>
            </a:r>
            <a:r>
              <a:rPr lang="en-GB" sz="2000" b="1" dirty="0"/>
              <a:t> pricing and rating patterns</a:t>
            </a:r>
            <a:r>
              <a:rPr lang="en-GB" sz="2000" dirty="0"/>
              <a:t> to understand customer preferences and market trends.</a:t>
            </a:r>
          </a:p>
          <a:p>
            <a:pPr marL="330200" marR="95885" indent="-317500">
              <a:lnSpc>
                <a:spcPts val="2500"/>
              </a:lnSpc>
              <a:spcBef>
                <a:spcPts val="200"/>
              </a:spcBef>
              <a:buChar char="•"/>
              <a:tabLst>
                <a:tab pos="330200" algn="l"/>
              </a:tabLst>
            </a:pPr>
            <a:r>
              <a:rPr lang="en-GB" sz="2000" dirty="0"/>
              <a:t>To identify popular and </a:t>
            </a:r>
            <a:r>
              <a:rPr lang="en-GB" sz="2000" b="1" dirty="0"/>
              <a:t>highly rated books</a:t>
            </a:r>
            <a:r>
              <a:rPr lang="en-GB" sz="2000" dirty="0"/>
              <a:t> that can support better inventory and recommendation decisions.</a:t>
            </a:r>
          </a:p>
          <a:p>
            <a:pPr marL="330200" marR="95885" indent="-317500">
              <a:lnSpc>
                <a:spcPts val="2500"/>
              </a:lnSpc>
              <a:spcBef>
                <a:spcPts val="200"/>
              </a:spcBef>
              <a:buChar char="•"/>
              <a:tabLst>
                <a:tab pos="330200" algn="l"/>
              </a:tabLst>
            </a:pPr>
            <a:r>
              <a:rPr lang="en-GB" sz="2000" dirty="0"/>
              <a:t>To transform </a:t>
            </a:r>
            <a:r>
              <a:rPr lang="en-GB" sz="2000" b="1" dirty="0"/>
              <a:t>raw web data into actionable insights</a:t>
            </a:r>
            <a:r>
              <a:rPr lang="en-GB" sz="2000" dirty="0"/>
              <a:t> through exploratory data analysis (EDA).</a:t>
            </a:r>
          </a:p>
          <a:p>
            <a:pPr marL="330200" marR="95885" indent="-317500">
              <a:lnSpc>
                <a:spcPts val="2500"/>
              </a:lnSpc>
              <a:spcBef>
                <a:spcPts val="200"/>
              </a:spcBef>
              <a:buChar char="•"/>
              <a:tabLst>
                <a:tab pos="330200" algn="l"/>
              </a:tabLst>
            </a:pPr>
            <a:r>
              <a:rPr lang="en-GB" sz="2000" dirty="0"/>
              <a:t>To demonstrate an </a:t>
            </a:r>
            <a:r>
              <a:rPr lang="en-GB" sz="2000" b="1" dirty="0"/>
              <a:t>end-to-end data analytics</a:t>
            </a:r>
            <a:r>
              <a:rPr lang="en-GB" sz="2000" dirty="0"/>
              <a:t> workflow from data extraction to business-ready insights.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8003" y="827302"/>
            <a:ext cx="8188959" cy="5106526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220"/>
              </a:spcBef>
              <a:buFont typeface="Times New Roman"/>
              <a:buChar char="•"/>
              <a:tabLst>
                <a:tab pos="329565" algn="l"/>
              </a:tabLst>
            </a:pPr>
            <a:r>
              <a:rPr sz="1900" dirty="0">
                <a:latin typeface="Arial"/>
                <a:cs typeface="Arial"/>
              </a:rPr>
              <a:t>Data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was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collected</a:t>
            </a:r>
            <a:r>
              <a:rPr sz="1900" spc="-5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from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the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lang="en-IN" sz="1900" b="1" spc="-55" dirty="0">
                <a:latin typeface="Arial"/>
                <a:cs typeface="Arial"/>
              </a:rPr>
              <a:t>Book To Scrap </a:t>
            </a:r>
            <a:r>
              <a:rPr sz="1900" b="1" spc="-10" dirty="0">
                <a:latin typeface="Arial"/>
                <a:cs typeface="Arial"/>
              </a:rPr>
              <a:t>website.</a:t>
            </a:r>
            <a:r>
              <a:rPr lang="en-IN" sz="1900" b="1" spc="-10" dirty="0">
                <a:latin typeface="Arial"/>
                <a:cs typeface="Arial"/>
              </a:rPr>
              <a:t>(</a:t>
            </a:r>
            <a:endParaRPr sz="1900" dirty="0">
              <a:latin typeface="Arial"/>
              <a:cs typeface="Arial"/>
            </a:endParaRPr>
          </a:p>
          <a:p>
            <a:pPr marL="329565" indent="-316865">
              <a:lnSpc>
                <a:spcPct val="100000"/>
              </a:lnSpc>
              <a:spcBef>
                <a:spcPts val="1120"/>
              </a:spcBef>
              <a:buFont typeface="Times New Roman"/>
              <a:buChar char="•"/>
              <a:tabLst>
                <a:tab pos="329565" algn="l"/>
              </a:tabLst>
            </a:pPr>
            <a:r>
              <a:rPr lang="en-IN" sz="1900" spc="-70" dirty="0">
                <a:latin typeface="Arial"/>
                <a:cs typeface="Arial"/>
              </a:rPr>
              <a:t>Books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information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was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extracted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using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web</a:t>
            </a:r>
            <a:r>
              <a:rPr sz="1900" b="1" spc="-6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scraping.</a:t>
            </a:r>
            <a:endParaRPr sz="1900" dirty="0">
              <a:latin typeface="Arial"/>
              <a:cs typeface="Arial"/>
            </a:endParaRPr>
          </a:p>
          <a:p>
            <a:pPr marL="329565" indent="-316865">
              <a:lnSpc>
                <a:spcPct val="100000"/>
              </a:lnSpc>
              <a:spcBef>
                <a:spcPts val="1120"/>
              </a:spcBef>
              <a:buFont typeface="Times New Roman"/>
              <a:buChar char="•"/>
              <a:tabLst>
                <a:tab pos="329565" algn="l"/>
              </a:tabLst>
            </a:pPr>
            <a:r>
              <a:rPr lang="en-GB" sz="2000" dirty="0"/>
              <a:t>The dataset represents real-time, publicly available online book listings collected from the </a:t>
            </a:r>
            <a:r>
              <a:rPr lang="en-GB" sz="2000" i="1" dirty="0"/>
              <a:t>Books to Scrape</a:t>
            </a:r>
            <a:r>
              <a:rPr lang="en-GB" sz="2000" dirty="0"/>
              <a:t> website.</a:t>
            </a:r>
            <a:endParaRPr sz="1900" dirty="0">
              <a:latin typeface="Arial"/>
              <a:cs typeface="Arial"/>
            </a:endParaRPr>
          </a:p>
          <a:p>
            <a:pPr marL="329565" indent="-316865">
              <a:lnSpc>
                <a:spcPct val="100000"/>
              </a:lnSpc>
              <a:spcBef>
                <a:spcPts val="1120"/>
              </a:spcBef>
              <a:buFont typeface="Times New Roman"/>
              <a:buChar char="•"/>
              <a:tabLst>
                <a:tab pos="329565" algn="l"/>
              </a:tabLst>
            </a:pPr>
            <a:r>
              <a:rPr sz="1900" dirty="0">
                <a:latin typeface="Arial"/>
                <a:cs typeface="Arial"/>
              </a:rPr>
              <a:t>Scraped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attributes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include:</a:t>
            </a:r>
            <a:endParaRPr sz="1900" dirty="0">
              <a:latin typeface="Arial"/>
              <a:cs typeface="Arial"/>
            </a:endParaRPr>
          </a:p>
          <a:p>
            <a:pPr marL="786765" lvl="1" indent="-317500">
              <a:lnSpc>
                <a:spcPct val="100000"/>
              </a:lnSpc>
              <a:spcBef>
                <a:spcPts val="1110"/>
              </a:spcBef>
              <a:buFont typeface="Times New Roman"/>
              <a:buChar char="◦"/>
              <a:tabLst>
                <a:tab pos="786765" algn="l"/>
              </a:tabLst>
            </a:pPr>
            <a:r>
              <a:rPr lang="en-IN" sz="1900" dirty="0">
                <a:latin typeface="Arial"/>
                <a:cs typeface="Arial"/>
              </a:rPr>
              <a:t>Title </a:t>
            </a:r>
            <a:endParaRPr sz="1900" dirty="0">
              <a:latin typeface="Arial"/>
              <a:cs typeface="Arial"/>
            </a:endParaRPr>
          </a:p>
          <a:p>
            <a:pPr marL="786765" lvl="1" indent="-317500">
              <a:lnSpc>
                <a:spcPct val="100000"/>
              </a:lnSpc>
              <a:spcBef>
                <a:spcPts val="1120"/>
              </a:spcBef>
              <a:buFont typeface="Times New Roman"/>
              <a:buChar char="◦"/>
              <a:tabLst>
                <a:tab pos="786765" algn="l"/>
              </a:tabLst>
            </a:pPr>
            <a:r>
              <a:rPr lang="en-IN" sz="1900" dirty="0">
                <a:latin typeface="Arial"/>
                <a:cs typeface="Arial"/>
              </a:rPr>
              <a:t>Price</a:t>
            </a:r>
            <a:endParaRPr sz="1900" dirty="0">
              <a:latin typeface="Arial"/>
              <a:cs typeface="Arial"/>
            </a:endParaRPr>
          </a:p>
          <a:p>
            <a:pPr marL="786765" lvl="1" indent="-317500">
              <a:lnSpc>
                <a:spcPct val="100000"/>
              </a:lnSpc>
              <a:spcBef>
                <a:spcPts val="1120"/>
              </a:spcBef>
              <a:buFont typeface="Times New Roman"/>
              <a:buChar char="◦"/>
              <a:tabLst>
                <a:tab pos="786765" algn="l"/>
              </a:tabLst>
            </a:pPr>
            <a:r>
              <a:rPr lang="en-IN" sz="1900" spc="-10" dirty="0">
                <a:latin typeface="Arial"/>
                <a:cs typeface="Arial"/>
              </a:rPr>
              <a:t>Ratings</a:t>
            </a:r>
            <a:endParaRPr sz="1900" dirty="0">
              <a:latin typeface="Arial"/>
              <a:cs typeface="Arial"/>
            </a:endParaRPr>
          </a:p>
          <a:p>
            <a:pPr marL="786765" lvl="1" indent="-317500">
              <a:lnSpc>
                <a:spcPct val="100000"/>
              </a:lnSpc>
              <a:spcBef>
                <a:spcPts val="1120"/>
              </a:spcBef>
              <a:buFont typeface="Times New Roman"/>
              <a:buChar char="◦"/>
              <a:tabLst>
                <a:tab pos="786765" algn="l"/>
              </a:tabLst>
            </a:pPr>
            <a:r>
              <a:rPr lang="en-IN" sz="2000" dirty="0"/>
              <a:t>Availability</a:t>
            </a:r>
            <a:endParaRPr sz="1900" dirty="0">
              <a:latin typeface="Arial"/>
              <a:cs typeface="Arial"/>
            </a:endParaRPr>
          </a:p>
          <a:p>
            <a:pPr marL="786765" lvl="1" indent="-317500">
              <a:lnSpc>
                <a:spcPct val="100000"/>
              </a:lnSpc>
              <a:spcBef>
                <a:spcPts val="1120"/>
              </a:spcBef>
              <a:buFont typeface="Times New Roman"/>
              <a:buChar char="◦"/>
              <a:tabLst>
                <a:tab pos="786765" algn="l"/>
              </a:tabLst>
            </a:pPr>
            <a:r>
              <a:rPr lang="en-IN" sz="2000" dirty="0"/>
              <a:t>Category</a:t>
            </a:r>
          </a:p>
          <a:p>
            <a:pPr marL="786765" lvl="1" indent="-317500">
              <a:lnSpc>
                <a:spcPct val="100000"/>
              </a:lnSpc>
              <a:spcBef>
                <a:spcPts val="1120"/>
              </a:spcBef>
              <a:buFont typeface="Times New Roman"/>
              <a:buChar char="◦"/>
              <a:tabLst>
                <a:tab pos="786765" algn="l"/>
              </a:tabLst>
            </a:pPr>
            <a:r>
              <a:rPr lang="en-IN" sz="2000" dirty="0"/>
              <a:t>Stock</a:t>
            </a:r>
          </a:p>
          <a:p>
            <a:pPr marL="786765" lvl="1" indent="-317500">
              <a:lnSpc>
                <a:spcPct val="100000"/>
              </a:lnSpc>
              <a:spcBef>
                <a:spcPts val="1120"/>
              </a:spcBef>
              <a:buFont typeface="Times New Roman"/>
              <a:buChar char="◦"/>
              <a:tabLst>
                <a:tab pos="786765" algn="l"/>
              </a:tabLst>
            </a:pPr>
            <a:r>
              <a:rPr lang="en-IN" sz="1900" spc="-10" dirty="0" err="1">
                <a:latin typeface="Arial"/>
                <a:cs typeface="Arial"/>
              </a:rPr>
              <a:t>Url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106" rIns="0" bIns="0" rtlCol="0">
            <a:spAutoFit/>
          </a:bodyPr>
          <a:lstStyle/>
          <a:p>
            <a:pPr marL="226187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Web-</a:t>
            </a:r>
            <a:r>
              <a:rPr sz="2400" dirty="0"/>
              <a:t>Scrapping</a:t>
            </a:r>
            <a:r>
              <a:rPr sz="2400" spc="-40" dirty="0"/>
              <a:t> </a:t>
            </a:r>
            <a:r>
              <a:rPr sz="2400" dirty="0"/>
              <a:t>:</a:t>
            </a:r>
            <a:r>
              <a:rPr sz="2400" spc="-35" dirty="0"/>
              <a:t> </a:t>
            </a:r>
            <a:r>
              <a:rPr sz="2400" spc="-10" dirty="0"/>
              <a:t>Details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19059" y="223180"/>
            <a:ext cx="2160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Data</a:t>
            </a:r>
            <a:r>
              <a:rPr sz="2400" spc="-60" dirty="0"/>
              <a:t> </a:t>
            </a:r>
            <a:r>
              <a:rPr sz="2400" spc="-10" dirty="0"/>
              <a:t>Summary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75580" y="654483"/>
            <a:ext cx="5637530" cy="1454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Database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Schema</a:t>
            </a:r>
            <a:endParaRPr sz="1800" dirty="0">
              <a:latin typeface="Times New Roman"/>
              <a:cs typeface="Times New Roman"/>
            </a:endParaRPr>
          </a:p>
          <a:p>
            <a:pPr marL="412115" indent="-317500">
              <a:lnSpc>
                <a:spcPct val="100000"/>
              </a:lnSpc>
              <a:spcBef>
                <a:spcPts val="1340"/>
              </a:spcBef>
              <a:buChar char="•"/>
              <a:tabLst>
                <a:tab pos="412115" algn="l"/>
              </a:tabLst>
            </a:pP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Source: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lang="en-GB" i="1" dirty="0"/>
              <a:t>Books to Scrape</a:t>
            </a:r>
            <a:r>
              <a:rPr lang="en-GB" dirty="0"/>
              <a:t> website (web scraped) </a:t>
            </a:r>
          </a:p>
          <a:p>
            <a:pPr marL="412115" indent="-317500">
              <a:lnSpc>
                <a:spcPct val="100000"/>
              </a:lnSpc>
              <a:spcBef>
                <a:spcPts val="1340"/>
              </a:spcBef>
              <a:buChar char="•"/>
              <a:tabLst>
                <a:tab pos="412115" algn="l"/>
              </a:tabLst>
            </a:pP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Format: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Structured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tabular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(CSV/DataFrame)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133" y="4725852"/>
            <a:ext cx="6044565" cy="16209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Quality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&amp;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Readiness</a:t>
            </a:r>
            <a:endParaRPr sz="1800" dirty="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40"/>
              </a:spcBef>
              <a:buChar char="•"/>
              <a:tabLst>
                <a:tab pos="469265" algn="l"/>
              </a:tabLst>
            </a:pPr>
            <a:r>
              <a:rPr lang="en-GB" dirty="0"/>
              <a:t>Minor missing values due to web scraping</a:t>
            </a:r>
            <a:endParaRPr sz="1800" dirty="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40"/>
              </a:spcBef>
              <a:buChar char="•"/>
              <a:tabLst>
                <a:tab pos="469265" algn="l"/>
              </a:tabLst>
            </a:pPr>
            <a:r>
              <a:rPr lang="en-GB" dirty="0"/>
              <a:t>Duplicate records identified and removed </a:t>
            </a:r>
          </a:p>
          <a:p>
            <a:pPr marL="469265" indent="-316865">
              <a:lnSpc>
                <a:spcPct val="100000"/>
              </a:lnSpc>
              <a:spcBef>
                <a:spcPts val="1340"/>
              </a:spcBef>
              <a:buChar char="•"/>
              <a:tabLst>
                <a:tab pos="469265" algn="l"/>
              </a:tabLst>
            </a:pPr>
            <a:r>
              <a:rPr lang="en-GB" dirty="0"/>
              <a:t>Data cleaned, standardized, and prepared for EDA</a:t>
            </a:r>
            <a:endParaRPr sz="18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93557" y="2158999"/>
            <a:ext cx="2452370" cy="2324100"/>
            <a:chOff x="3493557" y="2158999"/>
            <a:chExt cx="2452370" cy="2324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3557" y="2158999"/>
              <a:ext cx="2452157" cy="6279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3558" y="2786936"/>
              <a:ext cx="2452158" cy="3968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3557" y="3183761"/>
              <a:ext cx="2452158" cy="41237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93558" y="3596140"/>
              <a:ext cx="2452157" cy="4220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3557" y="4018196"/>
              <a:ext cx="2452157" cy="464466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487208" y="2152650"/>
            <a:ext cx="2465070" cy="653415"/>
            <a:chOff x="3487208" y="2152650"/>
            <a:chExt cx="2465070" cy="653415"/>
          </a:xfrm>
        </p:grpSpPr>
        <p:sp>
          <p:nvSpPr>
            <p:cNvPr id="12" name="object 12"/>
            <p:cNvSpPr/>
            <p:nvPr/>
          </p:nvSpPr>
          <p:spPr>
            <a:xfrm>
              <a:off x="3487208" y="2767886"/>
              <a:ext cx="2465070" cy="38100"/>
            </a:xfrm>
            <a:custGeom>
              <a:avLst/>
              <a:gdLst/>
              <a:ahLst/>
              <a:cxnLst/>
              <a:rect l="l" t="t" r="r" b="b"/>
              <a:pathLst>
                <a:path w="2465070" h="38100">
                  <a:moveTo>
                    <a:pt x="0" y="0"/>
                  </a:moveTo>
                  <a:lnTo>
                    <a:pt x="2464859" y="0"/>
                  </a:lnTo>
                  <a:lnTo>
                    <a:pt x="2464859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45717" y="2152650"/>
              <a:ext cx="0" cy="634365"/>
            </a:xfrm>
            <a:custGeom>
              <a:avLst/>
              <a:gdLst/>
              <a:ahLst/>
              <a:cxnLst/>
              <a:rect l="l" t="t" r="r" b="b"/>
              <a:pathLst>
                <a:path h="634364">
                  <a:moveTo>
                    <a:pt x="0" y="0"/>
                  </a:moveTo>
                  <a:lnTo>
                    <a:pt x="0" y="63428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939796"/>
              </p:ext>
            </p:extLst>
          </p:nvPr>
        </p:nvGraphicFramePr>
        <p:xfrm>
          <a:off x="1066800" y="2152650"/>
          <a:ext cx="4879340" cy="2364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6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380"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lang="en-IN" sz="1800" b="1" dirty="0"/>
                        <a:t>400 Books</a:t>
                      </a:r>
                    </a:p>
                    <a:p>
                      <a:pPr marL="68580" algn="ctr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lang="en-IN" sz="1800" b="1" spc="-10" dirty="0">
                          <a:latin typeface="Times New Roman"/>
                          <a:cs typeface="Times New Roman"/>
                        </a:rPr>
                        <a:t>8-9 (Columns)</a:t>
                      </a:r>
                    </a:p>
                  </a:txBody>
                  <a:tcPr marL="0" marR="0" marT="16954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8445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Features</a:t>
                      </a:r>
                      <a:endParaRPr lang="en-IN" sz="1800" b="1" dirty="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954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IN" b="1" dirty="0"/>
                        <a:t>Categories Covered</a:t>
                      </a:r>
                      <a:endParaRPr sz="1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R="8636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IN" sz="1800" b="1" spc="-25" dirty="0">
                          <a:latin typeface="Arial"/>
                          <a:cs typeface="Arial"/>
                        </a:rPr>
                        <a:t>50+</a:t>
                      </a:r>
                      <a:endParaRPr sz="1800" b="1" dirty="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IN" b="1" dirty="0"/>
                        <a:t>Rating Levels</a:t>
                      </a:r>
                      <a:endParaRPr sz="1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lang="en-GB" sz="1600" b="1" dirty="0"/>
                        <a:t>5 (One to Five Star)</a:t>
                      </a:r>
                      <a:endParaRPr sz="1700" b="1" dirty="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184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Price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    </a:t>
                      </a:r>
                      <a:r>
                        <a:rPr lang="en-IN" b="1" dirty="0"/>
                        <a:t>£10-£60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41423" y="94774"/>
            <a:ext cx="205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Data</a:t>
            </a:r>
            <a:r>
              <a:rPr sz="2400" spc="-60" dirty="0"/>
              <a:t> </a:t>
            </a:r>
            <a:r>
              <a:rPr sz="2400" spc="-10" dirty="0"/>
              <a:t>Cleaning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21344" y="125256"/>
            <a:ext cx="5104217" cy="6742872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900" b="1" dirty="0">
                <a:latin typeface="Times New Roman"/>
                <a:cs typeface="Times New Roman"/>
              </a:rPr>
              <a:t>Missing</a:t>
            </a:r>
            <a:r>
              <a:rPr sz="1900" b="1" spc="-90" dirty="0">
                <a:latin typeface="Times New Roman"/>
                <a:cs typeface="Times New Roman"/>
              </a:rPr>
              <a:t> </a:t>
            </a:r>
            <a:r>
              <a:rPr sz="1900" b="1" spc="-25" dirty="0">
                <a:latin typeface="Times New Roman"/>
                <a:cs typeface="Times New Roman"/>
              </a:rPr>
              <a:t>Value</a:t>
            </a:r>
            <a:r>
              <a:rPr sz="1900" b="1" spc="-5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Handling</a:t>
            </a:r>
            <a:endParaRPr sz="1900" dirty="0">
              <a:latin typeface="Times New Roman"/>
              <a:cs typeface="Times New Roman"/>
            </a:endParaRPr>
          </a:p>
          <a:p>
            <a:pPr marL="412115" indent="-316865">
              <a:lnSpc>
                <a:spcPct val="100000"/>
              </a:lnSpc>
              <a:spcBef>
                <a:spcPts val="1220"/>
              </a:spcBef>
              <a:buChar char="•"/>
              <a:tabLst>
                <a:tab pos="412115" algn="l"/>
              </a:tabLst>
            </a:pPr>
            <a:r>
              <a:rPr lang="en-GB" sz="2000" dirty="0"/>
              <a:t>Identified missing values in </a:t>
            </a:r>
            <a:r>
              <a:rPr lang="en-GB" sz="2000" b="1" dirty="0"/>
              <a:t>price, rating, and availability</a:t>
            </a:r>
            <a:r>
              <a:rPr lang="en-GB" sz="2000" dirty="0"/>
              <a:t> columns </a:t>
            </a:r>
          </a:p>
          <a:p>
            <a:pPr marL="412115" indent="-316865">
              <a:lnSpc>
                <a:spcPct val="100000"/>
              </a:lnSpc>
              <a:spcBef>
                <a:spcPts val="1220"/>
              </a:spcBef>
              <a:buChar char="•"/>
              <a:tabLst>
                <a:tab pos="412115" algn="l"/>
              </a:tabLst>
            </a:pPr>
            <a:r>
              <a:rPr lang="en-GB" sz="2000" dirty="0"/>
              <a:t>Handled missing records using </a:t>
            </a:r>
            <a:r>
              <a:rPr lang="en-GB" sz="2000" b="1" dirty="0"/>
              <a:t>removal and logical imputation techniques</a:t>
            </a:r>
          </a:p>
          <a:p>
            <a:pPr marL="412115" indent="-316865">
              <a:lnSpc>
                <a:spcPct val="100000"/>
              </a:lnSpc>
              <a:spcBef>
                <a:spcPts val="1220"/>
              </a:spcBef>
              <a:buChar char="•"/>
              <a:tabLst>
                <a:tab pos="412115" algn="l"/>
              </a:tabLst>
            </a:pPr>
            <a:r>
              <a:rPr lang="en-GB" sz="2000" dirty="0"/>
              <a:t>Missing values occurred due to </a:t>
            </a:r>
            <a:r>
              <a:rPr lang="en-GB" sz="2000" b="1" dirty="0"/>
              <a:t>incomplete HTML tags during web scraping</a:t>
            </a:r>
            <a:endParaRPr sz="1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5"/>
              </a:spcBef>
              <a:buFont typeface="Times New Roman"/>
              <a:buChar char="•"/>
            </a:pPr>
            <a:endParaRPr sz="19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Type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Standardisation</a:t>
            </a:r>
            <a:endParaRPr sz="2000" dirty="0">
              <a:latin typeface="Times New Roman"/>
              <a:cs typeface="Times New Roman"/>
            </a:endParaRPr>
          </a:p>
          <a:p>
            <a:pPr marL="443865" marR="1250950" indent="-317500">
              <a:lnSpc>
                <a:spcPct val="100000"/>
              </a:lnSpc>
              <a:spcBef>
                <a:spcPts val="1200"/>
              </a:spcBef>
              <a:buChar char="•"/>
              <a:tabLst>
                <a:tab pos="443865" algn="l"/>
              </a:tabLst>
            </a:pPr>
            <a:r>
              <a:rPr lang="en-GB" sz="2000" dirty="0"/>
              <a:t>Converted </a:t>
            </a:r>
            <a:r>
              <a:rPr lang="en-GB" sz="2000" b="1" dirty="0"/>
              <a:t>price</a:t>
            </a:r>
            <a:r>
              <a:rPr lang="en-GB" sz="2000" dirty="0"/>
              <a:t> from text to numeric format </a:t>
            </a:r>
          </a:p>
          <a:p>
            <a:pPr marL="443865" marR="1250950" indent="-317500">
              <a:lnSpc>
                <a:spcPct val="100000"/>
              </a:lnSpc>
              <a:spcBef>
                <a:spcPts val="1200"/>
              </a:spcBef>
              <a:buChar char="•"/>
              <a:tabLst>
                <a:tab pos="443865" algn="l"/>
              </a:tabLst>
            </a:pPr>
            <a:r>
              <a:rPr lang="en-GB" sz="2000" dirty="0"/>
              <a:t>Transformed </a:t>
            </a:r>
            <a:r>
              <a:rPr lang="en-GB" sz="2000" b="1" dirty="0"/>
              <a:t>rating</a:t>
            </a:r>
            <a:r>
              <a:rPr lang="en-GB" sz="2000" dirty="0"/>
              <a:t> from text labels (e.g., “Three”) to numeric values</a:t>
            </a:r>
          </a:p>
          <a:p>
            <a:pPr marL="443865" marR="1250950" indent="-317500">
              <a:lnSpc>
                <a:spcPct val="100000"/>
              </a:lnSpc>
              <a:spcBef>
                <a:spcPts val="1200"/>
              </a:spcBef>
              <a:buChar char="•"/>
              <a:tabLst>
                <a:tab pos="443865" algn="l"/>
              </a:tabLst>
            </a:pPr>
            <a:r>
              <a:rPr lang="en-GB" sz="2000" dirty="0"/>
              <a:t>Removed </a:t>
            </a:r>
            <a:r>
              <a:rPr lang="en-GB" sz="2000" b="1" dirty="0"/>
              <a:t>currency symbols (£)</a:t>
            </a:r>
            <a:r>
              <a:rPr lang="en-GB" sz="2000" dirty="0"/>
              <a:t> and unnecessary characters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0051" y="664552"/>
            <a:ext cx="13912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Missing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Values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829776" y="1920080"/>
            <a:ext cx="736367" cy="575598"/>
            <a:chOff x="7989883" y="3206300"/>
            <a:chExt cx="736367" cy="575598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9883" y="3206300"/>
              <a:ext cx="736367" cy="5755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1436" y="3259584"/>
              <a:ext cx="650642" cy="4898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21203" y="3241655"/>
              <a:ext cx="650875" cy="490220"/>
            </a:xfrm>
            <a:custGeom>
              <a:avLst/>
              <a:gdLst/>
              <a:ahLst/>
              <a:cxnLst/>
              <a:rect l="l" t="t" r="r" b="b"/>
              <a:pathLst>
                <a:path w="650875" h="490219">
                  <a:moveTo>
                    <a:pt x="405705" y="0"/>
                  </a:moveTo>
                  <a:lnTo>
                    <a:pt x="367507" y="15797"/>
                  </a:lnTo>
                  <a:lnTo>
                    <a:pt x="351689" y="53996"/>
                  </a:lnTo>
                  <a:lnTo>
                    <a:pt x="355643" y="74326"/>
                  </a:lnTo>
                  <a:lnTo>
                    <a:pt x="367507" y="92194"/>
                  </a:lnTo>
                  <a:lnTo>
                    <a:pt x="466253" y="190941"/>
                  </a:lnTo>
                  <a:lnTo>
                    <a:pt x="53995" y="190941"/>
                  </a:lnTo>
                  <a:lnTo>
                    <a:pt x="32976" y="195183"/>
                  </a:lnTo>
                  <a:lnTo>
                    <a:pt x="15813" y="206754"/>
                  </a:lnTo>
                  <a:lnTo>
                    <a:pt x="4242" y="223917"/>
                  </a:lnTo>
                  <a:lnTo>
                    <a:pt x="0" y="244937"/>
                  </a:lnTo>
                  <a:lnTo>
                    <a:pt x="4242" y="265956"/>
                  </a:lnTo>
                  <a:lnTo>
                    <a:pt x="15813" y="283119"/>
                  </a:lnTo>
                  <a:lnTo>
                    <a:pt x="32976" y="294690"/>
                  </a:lnTo>
                  <a:lnTo>
                    <a:pt x="53995" y="298932"/>
                  </a:lnTo>
                  <a:lnTo>
                    <a:pt x="466253" y="298932"/>
                  </a:lnTo>
                  <a:lnTo>
                    <a:pt x="367507" y="397679"/>
                  </a:lnTo>
                  <a:lnTo>
                    <a:pt x="355643" y="415548"/>
                  </a:lnTo>
                  <a:lnTo>
                    <a:pt x="351689" y="435878"/>
                  </a:lnTo>
                  <a:lnTo>
                    <a:pt x="355643" y="456208"/>
                  </a:lnTo>
                  <a:lnTo>
                    <a:pt x="385377" y="485929"/>
                  </a:lnTo>
                  <a:lnTo>
                    <a:pt x="405705" y="489873"/>
                  </a:lnTo>
                  <a:lnTo>
                    <a:pt x="416021" y="488888"/>
                  </a:lnTo>
                  <a:lnTo>
                    <a:pt x="634794" y="283135"/>
                  </a:lnTo>
                  <a:lnTo>
                    <a:pt x="650642" y="244937"/>
                  </a:lnTo>
                  <a:lnTo>
                    <a:pt x="649649" y="234620"/>
                  </a:lnTo>
                  <a:lnTo>
                    <a:pt x="443903" y="15797"/>
                  </a:lnTo>
                  <a:lnTo>
                    <a:pt x="416021" y="985"/>
                  </a:lnTo>
                  <a:lnTo>
                    <a:pt x="405705" y="0"/>
                  </a:lnTo>
                  <a:close/>
                </a:path>
              </a:pathLst>
            </a:custGeom>
            <a:ln w="9525">
              <a:solidFill>
                <a:srgbClr val="569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322972" y="664552"/>
            <a:ext cx="27355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After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handling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missing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values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406056" y="4416482"/>
            <a:ext cx="736600" cy="575945"/>
            <a:chOff x="8406056" y="4416482"/>
            <a:chExt cx="736600" cy="57594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6056" y="4416482"/>
              <a:ext cx="736367" cy="57559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8918" y="4436344"/>
              <a:ext cx="650642" cy="48987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448919" y="4436344"/>
              <a:ext cx="650875" cy="490220"/>
            </a:xfrm>
            <a:custGeom>
              <a:avLst/>
              <a:gdLst/>
              <a:ahLst/>
              <a:cxnLst/>
              <a:rect l="l" t="t" r="r" b="b"/>
              <a:pathLst>
                <a:path w="650875" h="490220">
                  <a:moveTo>
                    <a:pt x="405705" y="0"/>
                  </a:moveTo>
                  <a:lnTo>
                    <a:pt x="367507" y="15797"/>
                  </a:lnTo>
                  <a:lnTo>
                    <a:pt x="351689" y="53996"/>
                  </a:lnTo>
                  <a:lnTo>
                    <a:pt x="355643" y="74326"/>
                  </a:lnTo>
                  <a:lnTo>
                    <a:pt x="367507" y="92194"/>
                  </a:lnTo>
                  <a:lnTo>
                    <a:pt x="466253" y="190941"/>
                  </a:lnTo>
                  <a:lnTo>
                    <a:pt x="53995" y="190941"/>
                  </a:lnTo>
                  <a:lnTo>
                    <a:pt x="32976" y="195183"/>
                  </a:lnTo>
                  <a:lnTo>
                    <a:pt x="15813" y="206754"/>
                  </a:lnTo>
                  <a:lnTo>
                    <a:pt x="4242" y="223917"/>
                  </a:lnTo>
                  <a:lnTo>
                    <a:pt x="0" y="244937"/>
                  </a:lnTo>
                  <a:lnTo>
                    <a:pt x="4242" y="265956"/>
                  </a:lnTo>
                  <a:lnTo>
                    <a:pt x="15813" y="283119"/>
                  </a:lnTo>
                  <a:lnTo>
                    <a:pt x="32976" y="294690"/>
                  </a:lnTo>
                  <a:lnTo>
                    <a:pt x="53995" y="298932"/>
                  </a:lnTo>
                  <a:lnTo>
                    <a:pt x="466253" y="298932"/>
                  </a:lnTo>
                  <a:lnTo>
                    <a:pt x="367507" y="397679"/>
                  </a:lnTo>
                  <a:lnTo>
                    <a:pt x="355643" y="415548"/>
                  </a:lnTo>
                  <a:lnTo>
                    <a:pt x="351689" y="435878"/>
                  </a:lnTo>
                  <a:lnTo>
                    <a:pt x="355643" y="456208"/>
                  </a:lnTo>
                  <a:lnTo>
                    <a:pt x="385377" y="485929"/>
                  </a:lnTo>
                  <a:lnTo>
                    <a:pt x="405705" y="489873"/>
                  </a:lnTo>
                  <a:lnTo>
                    <a:pt x="416021" y="488888"/>
                  </a:lnTo>
                  <a:lnTo>
                    <a:pt x="634794" y="283135"/>
                  </a:lnTo>
                  <a:lnTo>
                    <a:pt x="650642" y="244937"/>
                  </a:lnTo>
                  <a:lnTo>
                    <a:pt x="649649" y="234620"/>
                  </a:lnTo>
                  <a:lnTo>
                    <a:pt x="443903" y="15797"/>
                  </a:lnTo>
                  <a:lnTo>
                    <a:pt x="416021" y="985"/>
                  </a:lnTo>
                  <a:lnTo>
                    <a:pt x="405705" y="0"/>
                  </a:lnTo>
                  <a:close/>
                </a:path>
              </a:pathLst>
            </a:custGeom>
            <a:ln w="9525">
              <a:solidFill>
                <a:srgbClr val="569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22425" y="5475233"/>
            <a:ext cx="5822315" cy="62738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477260">
              <a:lnSpc>
                <a:spcPct val="100000"/>
              </a:lnSpc>
              <a:spcBef>
                <a:spcPts val="785"/>
              </a:spcBef>
            </a:pPr>
            <a:r>
              <a:rPr sz="1400" b="1" dirty="0">
                <a:latin typeface="Arial"/>
                <a:cs typeface="Arial"/>
              </a:rPr>
              <a:t>After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Converting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data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types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400" b="1" dirty="0">
                <a:latin typeface="Arial"/>
                <a:cs typeface="Arial"/>
              </a:rPr>
              <a:t>Before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Converting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data</a:t>
            </a:r>
            <a:r>
              <a:rPr sz="1400" b="1" spc="-20" dirty="0">
                <a:latin typeface="Arial"/>
                <a:cs typeface="Arial"/>
              </a:rPr>
              <a:t> types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42588F-D5A5-A654-DBDF-BC8E8668E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690" y="1043908"/>
            <a:ext cx="2242212" cy="20903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052FCCB-4DEF-B4EB-35D2-97BF374FA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789" y="1432195"/>
            <a:ext cx="2526159" cy="23608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44BC731-8CDB-69EA-5CDE-A8C105B48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4393" y="3879028"/>
            <a:ext cx="2667372" cy="13241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854D542-20C9-47C3-DA9E-C5DBE56132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9184" y="3986734"/>
            <a:ext cx="2829320" cy="14384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62430" y="76200"/>
            <a:ext cx="8867140" cy="476718"/>
          </a:xfrm>
          <a:prstGeom prst="rect">
            <a:avLst/>
          </a:prstGeom>
        </p:spPr>
        <p:txBody>
          <a:bodyPr vert="horz" wrap="square" lIns="0" tIns="106348" rIns="0" bIns="0" rtlCol="0">
            <a:spAutoFit/>
          </a:bodyPr>
          <a:lstStyle/>
          <a:p>
            <a:pPr marL="2724150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Distribution of Book Prices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7531903" y="1828800"/>
            <a:ext cx="4431497" cy="40446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Insights</a:t>
            </a:r>
            <a:r>
              <a:rPr sz="2100" b="1" spc="-85" dirty="0">
                <a:latin typeface="Arial"/>
                <a:cs typeface="Arial"/>
              </a:rPr>
              <a:t> </a:t>
            </a:r>
            <a:r>
              <a:rPr sz="2100" b="1" spc="-25" dirty="0">
                <a:latin typeface="Arial"/>
                <a:cs typeface="Arial"/>
              </a:rPr>
              <a:t>:-</a:t>
            </a:r>
            <a:endParaRPr sz="2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 dirty="0">
              <a:latin typeface="Arial"/>
              <a:cs typeface="Arial"/>
            </a:endParaRPr>
          </a:p>
          <a:p>
            <a:pPr marL="132715" indent="-120014">
              <a:lnSpc>
                <a:spcPct val="100000"/>
              </a:lnSpc>
              <a:buChar char="•"/>
              <a:tabLst>
                <a:tab pos="132715" algn="l"/>
              </a:tabLst>
            </a:pPr>
            <a:r>
              <a:rPr lang="en-GB" sz="2000" dirty="0"/>
              <a:t>The highest concentration of books lies in the </a:t>
            </a:r>
            <a:r>
              <a:rPr lang="en-GB" sz="2000" b="1" dirty="0"/>
              <a:t>£20–£40 price range</a:t>
            </a:r>
          </a:p>
          <a:p>
            <a:pPr marL="132715" indent="-120014">
              <a:lnSpc>
                <a:spcPct val="100000"/>
              </a:lnSpc>
              <a:buChar char="•"/>
              <a:tabLst>
                <a:tab pos="132715" algn="l"/>
              </a:tabLst>
            </a:pPr>
            <a:r>
              <a:rPr lang="en-GB" sz="2000" dirty="0"/>
              <a:t>This shows that </a:t>
            </a:r>
            <a:r>
              <a:rPr lang="en-GB" sz="2000" b="1" dirty="0"/>
              <a:t>most books are moderately priced</a:t>
            </a:r>
          </a:p>
          <a:p>
            <a:pPr marL="132715" indent="-120014">
              <a:lnSpc>
                <a:spcPct val="100000"/>
              </a:lnSpc>
              <a:buChar char="•"/>
              <a:tabLst>
                <a:tab pos="132715" algn="l"/>
              </a:tabLst>
            </a:pPr>
            <a:r>
              <a:rPr lang="en-GB" sz="2000" dirty="0"/>
              <a:t>Very few books fall in the extremely low or high price ranges</a:t>
            </a:r>
          </a:p>
          <a:p>
            <a:pPr marL="132715" indent="-120014">
              <a:lnSpc>
                <a:spcPct val="100000"/>
              </a:lnSpc>
              <a:buChar char="•"/>
              <a:tabLst>
                <a:tab pos="132715" algn="l"/>
              </a:tabLst>
            </a:pPr>
            <a:r>
              <a:rPr lang="en-GB" sz="2000" dirty="0"/>
              <a:t>This graph shows the distribution of book prices.</a:t>
            </a:r>
            <a:br>
              <a:rPr lang="en-GB" sz="2000" dirty="0"/>
            </a:br>
            <a:r>
              <a:rPr lang="en-GB" sz="2000" dirty="0"/>
              <a:t>Most books fall in the mid-price range, which indicates a focus on affordable pricing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068C3D-4A46-5E51-4B1A-87822E68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90600"/>
            <a:ext cx="6490800" cy="52164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48000" y="152400"/>
            <a:ext cx="5823276" cy="462255"/>
          </a:xfrm>
          <a:prstGeom prst="rect">
            <a:avLst/>
          </a:prstGeom>
        </p:spPr>
        <p:txBody>
          <a:bodyPr vert="horz" wrap="square" lIns="0" tIns="92024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100"/>
              </a:spcBef>
            </a:pPr>
            <a:r>
              <a:rPr lang="en-GB" sz="2400" dirty="0"/>
              <a:t>Average Book Price by Rating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7391400" y="1981200"/>
            <a:ext cx="4643755" cy="249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Insights</a:t>
            </a:r>
            <a:r>
              <a:rPr sz="2100" b="1" spc="-85" dirty="0">
                <a:latin typeface="Arial"/>
                <a:cs typeface="Arial"/>
              </a:rPr>
              <a:t> </a:t>
            </a:r>
            <a:r>
              <a:rPr sz="2100" b="1" spc="-25" dirty="0">
                <a:latin typeface="Arial"/>
                <a:cs typeface="Arial"/>
              </a:rPr>
              <a:t>:-</a:t>
            </a:r>
            <a:endParaRPr sz="2100" dirty="0">
              <a:latin typeface="Arial"/>
              <a:cs typeface="Arial"/>
            </a:endParaRPr>
          </a:p>
          <a:p>
            <a:pPr marL="132715" marR="506730" indent="-120650">
              <a:lnSpc>
                <a:spcPct val="100000"/>
              </a:lnSpc>
              <a:spcBef>
                <a:spcPts val="2390"/>
              </a:spcBef>
              <a:buChar char="•"/>
              <a:tabLst>
                <a:tab pos="132715" algn="l"/>
              </a:tabLst>
            </a:pPr>
            <a:r>
              <a:rPr lang="en-GB" sz="2000" dirty="0"/>
              <a:t>Higher-rated books (4★) tend to have slightly higher average prices.</a:t>
            </a:r>
          </a:p>
          <a:p>
            <a:pPr marL="132715" marR="506730" indent="-120650">
              <a:lnSpc>
                <a:spcPct val="100000"/>
              </a:lnSpc>
              <a:spcBef>
                <a:spcPts val="2390"/>
              </a:spcBef>
              <a:buChar char="•"/>
              <a:tabLst>
                <a:tab pos="132715" algn="l"/>
              </a:tabLst>
            </a:pPr>
            <a:r>
              <a:rPr lang="en-GB" sz="2000" dirty="0"/>
              <a:t>Price differences across ratings are small, showing pricing is fairly consistent.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01273-9C5F-0FBC-8051-EB27F4CB5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73180"/>
            <a:ext cx="6490800" cy="5146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819400" y="31376"/>
            <a:ext cx="5710879" cy="488313"/>
          </a:xfrm>
          <a:prstGeom prst="rect">
            <a:avLst/>
          </a:prstGeom>
        </p:spPr>
        <p:txBody>
          <a:bodyPr vert="horz" wrap="square" lIns="0" tIns="117830" rIns="0" bIns="0" rtlCol="0">
            <a:spAutoFit/>
          </a:bodyPr>
          <a:lstStyle/>
          <a:p>
            <a:pPr marL="1009015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Price Distribution by Rating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7239000" y="798792"/>
            <a:ext cx="4808855" cy="5260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Insights</a:t>
            </a:r>
            <a:r>
              <a:rPr sz="2100" b="1" spc="-85" dirty="0">
                <a:latin typeface="Arial"/>
                <a:cs typeface="Arial"/>
              </a:rPr>
              <a:t> </a:t>
            </a:r>
            <a:r>
              <a:rPr sz="2100" b="1" spc="-25" dirty="0">
                <a:latin typeface="Arial"/>
                <a:cs typeface="Arial"/>
              </a:rPr>
              <a:t>:-</a:t>
            </a:r>
            <a:endParaRPr lang="en-GB" sz="2100" dirty="0">
              <a:latin typeface="Arial"/>
              <a:cs typeface="Arial"/>
            </a:endParaRPr>
          </a:p>
          <a:p>
            <a:pPr marL="132715" indent="-120014">
              <a:lnSpc>
                <a:spcPct val="100000"/>
              </a:lnSpc>
              <a:spcBef>
                <a:spcPts val="2390"/>
              </a:spcBef>
              <a:buFont typeface="Times New Roman"/>
              <a:buChar char="•"/>
              <a:tabLst>
                <a:tab pos="132715" algn="l"/>
              </a:tabLst>
            </a:pPr>
            <a:r>
              <a:rPr lang="en-GB" sz="2000" b="1" dirty="0"/>
              <a:t>Higher-rated books (4★) show a higher median price</a:t>
            </a:r>
            <a:r>
              <a:rPr lang="en-GB" sz="2000" dirty="0"/>
              <a:t> compared to lower ratings.</a:t>
            </a:r>
          </a:p>
          <a:p>
            <a:pPr marL="132715" indent="-120014">
              <a:lnSpc>
                <a:spcPct val="100000"/>
              </a:lnSpc>
              <a:spcBef>
                <a:spcPts val="2390"/>
              </a:spcBef>
              <a:buFont typeface="Times New Roman"/>
              <a:buChar char="•"/>
              <a:tabLst>
                <a:tab pos="132715" algn="l"/>
              </a:tabLst>
            </a:pPr>
            <a:r>
              <a:rPr lang="en-GB" sz="2000" b="1" dirty="0"/>
              <a:t>Price ranges overlap across all ratings</a:t>
            </a:r>
            <a:r>
              <a:rPr lang="en-GB" sz="2000" dirty="0"/>
              <a:t>, indicating rating is not the only factor influencing price.</a:t>
            </a:r>
            <a:endParaRPr lang="en-GB" sz="1900" spc="-10" dirty="0">
              <a:latin typeface="Times New Roman"/>
              <a:cs typeface="Times New Roman"/>
            </a:endParaRPr>
          </a:p>
          <a:p>
            <a:pPr marL="132715" indent="-120014">
              <a:lnSpc>
                <a:spcPct val="100000"/>
              </a:lnSpc>
              <a:spcBef>
                <a:spcPts val="2390"/>
              </a:spcBef>
              <a:buFont typeface="Times New Roman"/>
              <a:buChar char="•"/>
              <a:tabLst>
                <a:tab pos="132715" algn="l"/>
              </a:tabLst>
            </a:pPr>
            <a:r>
              <a:rPr lang="en-GB" sz="2000" dirty="0"/>
              <a:t>This analysis compares prices across ratings.</a:t>
            </a:r>
            <a:br>
              <a:rPr lang="en-GB" sz="2000" dirty="0"/>
            </a:br>
            <a:r>
              <a:rPr lang="en-GB" sz="2000" dirty="0"/>
              <a:t>Higher-rated books tend to have slightly higher prices, but overall, price differences are small.</a:t>
            </a:r>
            <a:br>
              <a:rPr lang="en-GB" sz="2000" dirty="0"/>
            </a:br>
            <a:r>
              <a:rPr lang="en-GB" sz="2000" dirty="0"/>
              <a:t>This suggests that ratings alone do not strongly influence book prices</a:t>
            </a:r>
            <a:endParaRPr sz="19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7798C4-9A80-F6CE-7FA4-FD99E7BDE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49216"/>
            <a:ext cx="6490408" cy="49595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52800" y="236545"/>
            <a:ext cx="5025079" cy="462255"/>
          </a:xfrm>
          <a:prstGeom prst="rect">
            <a:avLst/>
          </a:prstGeom>
        </p:spPr>
        <p:txBody>
          <a:bodyPr vert="horz" wrap="square" lIns="0" tIns="920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Distribution of Book Ratings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7239000" y="1752600"/>
            <a:ext cx="4796790" cy="40293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Insights</a:t>
            </a:r>
            <a:r>
              <a:rPr sz="2100" b="1" spc="-85" dirty="0">
                <a:latin typeface="Arial"/>
                <a:cs typeface="Arial"/>
              </a:rPr>
              <a:t> </a:t>
            </a:r>
            <a:r>
              <a:rPr sz="2100" b="1" spc="-25" dirty="0">
                <a:latin typeface="Arial"/>
                <a:cs typeface="Arial"/>
              </a:rPr>
              <a:t>:-</a:t>
            </a:r>
            <a:endParaRPr sz="2100" dirty="0">
              <a:latin typeface="Arial"/>
              <a:cs typeface="Arial"/>
            </a:endParaRPr>
          </a:p>
          <a:p>
            <a:pPr marL="212725" marR="5080" indent="-200660">
              <a:lnSpc>
                <a:spcPct val="100000"/>
              </a:lnSpc>
              <a:spcBef>
                <a:spcPts val="2390"/>
              </a:spcBef>
              <a:buChar char="•"/>
              <a:tabLst>
                <a:tab pos="212725" algn="l"/>
              </a:tabLst>
            </a:pPr>
            <a:r>
              <a:rPr lang="en-GB" sz="2000" b="1" dirty="0"/>
              <a:t>Lower ratings (1★–2★) appear more frequently</a:t>
            </a:r>
            <a:r>
              <a:rPr lang="en-GB" sz="2000" dirty="0"/>
              <a:t> than higher ratings.</a:t>
            </a:r>
          </a:p>
          <a:p>
            <a:pPr marL="212725" marR="5080" indent="-200660">
              <a:lnSpc>
                <a:spcPct val="100000"/>
              </a:lnSpc>
              <a:spcBef>
                <a:spcPts val="2390"/>
              </a:spcBef>
              <a:buChar char="•"/>
              <a:tabLst>
                <a:tab pos="212725" algn="l"/>
              </a:tabLst>
            </a:pPr>
            <a:r>
              <a:rPr lang="en-GB" sz="2000" b="1" dirty="0"/>
              <a:t>Ratings are fairly evenly spread overall</a:t>
            </a:r>
            <a:r>
              <a:rPr lang="en-GB" sz="2000" dirty="0"/>
              <a:t>, indicating diverse reader opinions across books.</a:t>
            </a:r>
          </a:p>
          <a:p>
            <a:pPr marL="212725" marR="5080" indent="-200660">
              <a:spcBef>
                <a:spcPts val="2390"/>
              </a:spcBef>
              <a:buFontTx/>
              <a:buChar char="•"/>
              <a:tabLst>
                <a:tab pos="212725" algn="l"/>
              </a:tabLst>
            </a:pPr>
            <a:r>
              <a:rPr lang="en-GB" sz="2000" dirty="0"/>
              <a:t>Here we can see how ratings are distributed.</a:t>
            </a:r>
            <a:br>
              <a:rPr lang="en-GB" sz="2000" dirty="0"/>
            </a:br>
            <a:r>
              <a:rPr lang="en-GB" sz="2000" dirty="0"/>
              <a:t>Ratings are fairly spread, showing diverse reader opinions</a:t>
            </a:r>
            <a:endParaRPr lang="en-GB" sz="20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121C76-E924-82BF-1F96-31672BCA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79" y="990600"/>
            <a:ext cx="6490800" cy="516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669" rIns="0" bIns="0" rtlCol="0">
            <a:spAutoFit/>
          </a:bodyPr>
          <a:lstStyle/>
          <a:p>
            <a:pPr marL="3324860">
              <a:lnSpc>
                <a:spcPct val="100000"/>
              </a:lnSpc>
              <a:spcBef>
                <a:spcPts val="100"/>
              </a:spcBef>
            </a:pPr>
            <a:r>
              <a:rPr sz="2600" spc="-10" dirty="0"/>
              <a:t>Challenges</a:t>
            </a:r>
            <a:endParaRPr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741947" y="1321752"/>
            <a:ext cx="10810875" cy="3101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650">
              <a:lnSpc>
                <a:spcPct val="120800"/>
              </a:lnSpc>
              <a:spcBef>
                <a:spcPts val="100"/>
              </a:spcBef>
              <a:buChar char="•"/>
              <a:tabLst>
                <a:tab pos="132715" algn="l"/>
                <a:tab pos="208279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lang="en-GB" sz="2400" b="1" dirty="0"/>
              <a:t>Dynamic and inconsistent HTML structure(attached ss for before data)</a:t>
            </a:r>
            <a:r>
              <a:rPr lang="en-GB" sz="2400" dirty="0"/>
              <a:t> across pages made element selection difficult</a:t>
            </a:r>
            <a:endParaRPr sz="2400" dirty="0">
              <a:latin typeface="Times New Roman"/>
              <a:cs typeface="Times New Roman"/>
            </a:endParaRPr>
          </a:p>
          <a:p>
            <a:pPr marL="132715" marR="153035" indent="-120650">
              <a:lnSpc>
                <a:spcPct val="120800"/>
              </a:lnSpc>
              <a:buChar char="•"/>
              <a:tabLst>
                <a:tab pos="132715" algn="l"/>
                <a:tab pos="208279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lang="en-GB" sz="2400" b="1" dirty="0"/>
              <a:t>Missing or incomplete data</a:t>
            </a:r>
            <a:r>
              <a:rPr lang="en-GB" sz="2400" dirty="0"/>
              <a:t> due to unavailable tags during scraping</a:t>
            </a:r>
            <a:endParaRPr lang="en-IN" sz="2400" dirty="0">
              <a:latin typeface="Times New Roman"/>
              <a:cs typeface="Times New Roman"/>
            </a:endParaRPr>
          </a:p>
          <a:p>
            <a:pPr marL="132715" marR="153035" indent="-120650">
              <a:lnSpc>
                <a:spcPct val="120800"/>
              </a:lnSpc>
              <a:buChar char="•"/>
              <a:tabLst>
                <a:tab pos="132715" algn="l"/>
                <a:tab pos="208279" algn="l"/>
              </a:tabLst>
            </a:pPr>
            <a:r>
              <a:rPr lang="en-GB" sz="2400" b="1" dirty="0"/>
              <a:t>Text-based values</a:t>
            </a:r>
            <a:r>
              <a:rPr lang="en-GB" sz="2400" dirty="0"/>
              <a:t> (prices, ratings) required additional cleaning and conversion.</a:t>
            </a:r>
          </a:p>
          <a:p>
            <a:pPr marL="132715" marR="153035" indent="-120650">
              <a:lnSpc>
                <a:spcPct val="120800"/>
              </a:lnSpc>
              <a:buChar char="•"/>
              <a:tabLst>
                <a:tab pos="132715" algn="l"/>
                <a:tab pos="208279" algn="l"/>
              </a:tabLst>
            </a:pPr>
            <a:r>
              <a:rPr lang="en-GB" sz="2400" b="1" dirty="0"/>
              <a:t>Pagination handling</a:t>
            </a:r>
            <a:r>
              <a:rPr lang="en-GB" sz="2400" dirty="0"/>
              <a:t> was needed to extract data from multiple pages</a:t>
            </a:r>
          </a:p>
          <a:p>
            <a:pPr marL="132715" marR="153035" indent="-120650">
              <a:lnSpc>
                <a:spcPct val="120800"/>
              </a:lnSpc>
              <a:buChar char="•"/>
              <a:tabLst>
                <a:tab pos="132715" algn="l"/>
                <a:tab pos="208279" algn="l"/>
              </a:tabLst>
            </a:pPr>
            <a:r>
              <a:rPr lang="en-GB" sz="2400" b="1" dirty="0"/>
              <a:t>Ensuring data quality</a:t>
            </a:r>
            <a:r>
              <a:rPr lang="en-GB" sz="2400" dirty="0"/>
              <a:t> while removing duplicates and invalid records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217" rIns="0" bIns="0" rtlCol="0">
            <a:spAutoFit/>
          </a:bodyPr>
          <a:lstStyle/>
          <a:p>
            <a:pPr marL="121158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Conclusions</a:t>
            </a:r>
            <a:r>
              <a:rPr spc="-10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Recommendations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369" y="1170663"/>
            <a:ext cx="10747375" cy="47705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Conclusions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:-</a:t>
            </a:r>
            <a:endParaRPr sz="2000" dirty="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buChar char="•"/>
              <a:tabLst>
                <a:tab pos="202565" algn="l"/>
              </a:tabLst>
            </a:pPr>
            <a:r>
              <a:rPr lang="en-GB" sz="2000" dirty="0"/>
              <a:t>Web scraping successfully extracted </a:t>
            </a:r>
            <a:r>
              <a:rPr lang="en-GB" sz="2000" b="1" dirty="0"/>
              <a:t>structured book data</a:t>
            </a:r>
            <a:r>
              <a:rPr lang="en-GB" sz="2000" dirty="0"/>
              <a:t> from the </a:t>
            </a:r>
            <a:r>
              <a:rPr lang="en-GB" sz="2000" i="1" dirty="0"/>
              <a:t>Books to Scrape</a:t>
            </a:r>
            <a:r>
              <a:rPr lang="en-GB" sz="2000" dirty="0"/>
              <a:t> website.</a:t>
            </a:r>
          </a:p>
          <a:p>
            <a:pPr marL="202565" indent="-189865">
              <a:lnSpc>
                <a:spcPct val="100000"/>
              </a:lnSpc>
              <a:buChar char="•"/>
              <a:tabLst>
                <a:tab pos="202565" algn="l"/>
              </a:tabLst>
            </a:pPr>
            <a:r>
              <a:rPr lang="en-GB" sz="2000" dirty="0"/>
              <a:t>The dataset revealed </a:t>
            </a:r>
            <a:r>
              <a:rPr lang="en-GB" sz="2000" b="1" dirty="0"/>
              <a:t>balanced pricing</a:t>
            </a:r>
            <a:r>
              <a:rPr lang="en-GB" sz="2000" dirty="0"/>
              <a:t> with most books in the mid-price range.</a:t>
            </a:r>
          </a:p>
          <a:p>
            <a:pPr marL="202565" indent="-189865">
              <a:lnSpc>
                <a:spcPct val="100000"/>
              </a:lnSpc>
              <a:buChar char="•"/>
              <a:tabLst>
                <a:tab pos="202565" algn="l"/>
              </a:tabLst>
            </a:pPr>
            <a:r>
              <a:rPr lang="en-GB" sz="2000" b="1" dirty="0"/>
              <a:t>Ratings and prices show a weak relationship</a:t>
            </a:r>
            <a:r>
              <a:rPr lang="en-GB" sz="2000" dirty="0"/>
              <a:t>, indicating price is not solely driven by ratings.</a:t>
            </a:r>
          </a:p>
          <a:p>
            <a:r>
              <a:rPr lang="en-GB" sz="2000" dirty="0"/>
              <a:t>The cleaned dataset was </a:t>
            </a:r>
            <a:r>
              <a:rPr lang="en-GB" sz="2000" b="1" dirty="0"/>
              <a:t>analysis-ready</a:t>
            </a:r>
            <a:r>
              <a:rPr lang="en-GB" sz="2000" dirty="0"/>
              <a:t> and suitable for meaningful EDA.</a:t>
            </a:r>
          </a:p>
          <a:p>
            <a:pPr marL="12701">
              <a:lnSpc>
                <a:spcPct val="100000"/>
              </a:lnSpc>
              <a:spcBef>
                <a:spcPts val="1200"/>
              </a:spcBef>
              <a:tabLst>
                <a:tab pos="132715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395"/>
              </a:lnSpc>
              <a:spcBef>
                <a:spcPts val="1110"/>
              </a:spcBef>
            </a:pPr>
            <a:r>
              <a:rPr sz="2000" b="1" spc="-10" dirty="0">
                <a:latin typeface="Arial"/>
                <a:cs typeface="Arial"/>
              </a:rPr>
              <a:t>Recommendations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:-</a:t>
            </a:r>
            <a:endParaRPr sz="2000" dirty="0">
              <a:latin typeface="Arial"/>
              <a:cs typeface="Arial"/>
            </a:endParaRPr>
          </a:p>
          <a:p>
            <a:pPr marL="132715" indent="-120014">
              <a:lnSpc>
                <a:spcPts val="2395"/>
              </a:lnSpc>
              <a:buChar char="•"/>
              <a:tabLst>
                <a:tab pos="132715" algn="l"/>
              </a:tabLst>
            </a:pPr>
            <a:r>
              <a:rPr lang="en-GB" sz="2000" dirty="0"/>
              <a:t>Focus on </a:t>
            </a:r>
            <a:r>
              <a:rPr lang="en-GB" sz="2000" b="1" dirty="0"/>
              <a:t>mid-priced books</a:t>
            </a:r>
            <a:r>
              <a:rPr lang="en-GB" sz="2000" dirty="0"/>
              <a:t>, as they represent the majority of listings.</a:t>
            </a:r>
            <a:endParaRPr sz="2000" dirty="0">
              <a:latin typeface="Times New Roman"/>
              <a:cs typeface="Times New Roman"/>
            </a:endParaRPr>
          </a:p>
          <a:p>
            <a:pPr marL="132715" indent="-120014">
              <a:lnSpc>
                <a:spcPct val="100000"/>
              </a:lnSpc>
              <a:spcBef>
                <a:spcPts val="1200"/>
              </a:spcBef>
              <a:buChar char="•"/>
              <a:tabLst>
                <a:tab pos="132715" algn="l"/>
              </a:tabLst>
            </a:pPr>
            <a:r>
              <a:rPr lang="en-GB" sz="2000" dirty="0"/>
              <a:t>Use </a:t>
            </a:r>
            <a:r>
              <a:rPr lang="en-GB" sz="2000" b="1" dirty="0"/>
              <a:t>ratings along with other factors</a:t>
            </a:r>
            <a:r>
              <a:rPr lang="en-GB" sz="2000" dirty="0"/>
              <a:t> (category, popularity) for better recommendations.</a:t>
            </a:r>
            <a:endParaRPr sz="2000" dirty="0">
              <a:latin typeface="Times New Roman"/>
              <a:cs typeface="Times New Roman"/>
            </a:endParaRPr>
          </a:p>
          <a:p>
            <a:pPr marL="132715" marR="144780" indent="-120650">
              <a:lnSpc>
                <a:spcPct val="100000"/>
              </a:lnSpc>
              <a:spcBef>
                <a:spcPts val="1200"/>
              </a:spcBef>
              <a:buChar char="•"/>
              <a:tabLst>
                <a:tab pos="132715" algn="l"/>
              </a:tabLst>
            </a:pPr>
            <a:r>
              <a:rPr lang="en-GB" sz="2000" dirty="0"/>
              <a:t>Automate periodic scraping to </a:t>
            </a:r>
            <a:r>
              <a:rPr lang="en-GB" sz="2000" b="1" dirty="0"/>
              <a:t>track price and rating trends over time</a:t>
            </a:r>
            <a:r>
              <a:rPr lang="en-GB" sz="2000" dirty="0"/>
              <a:t>.</a:t>
            </a:r>
          </a:p>
          <a:p>
            <a:pPr marL="132715" marR="144780" indent="-120650">
              <a:lnSpc>
                <a:spcPct val="100000"/>
              </a:lnSpc>
              <a:spcBef>
                <a:spcPts val="1200"/>
              </a:spcBef>
              <a:buChar char="•"/>
              <a:tabLst>
                <a:tab pos="132715" algn="l"/>
              </a:tabLst>
            </a:pPr>
            <a:r>
              <a:rPr lang="en-GB" sz="2000" dirty="0"/>
              <a:t>Extend analysis by including </a:t>
            </a:r>
            <a:r>
              <a:rPr lang="en-GB" sz="2000" b="1" dirty="0"/>
              <a:t>category-wise and sentiment analysis</a:t>
            </a:r>
            <a:r>
              <a:rPr lang="en-GB" sz="2000" dirty="0"/>
              <a:t>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23324" y="3015987"/>
            <a:ext cx="32759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solidFill>
                  <a:srgbClr val="C00000"/>
                </a:solidFill>
                <a:latin typeface="Arial"/>
                <a:cs typeface="Arial"/>
              </a:rPr>
              <a:t>THANK</a:t>
            </a:r>
            <a:r>
              <a:rPr sz="4400" b="0" spc="-1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400" b="0" spc="-25" dirty="0">
                <a:solidFill>
                  <a:srgbClr val="C00000"/>
                </a:solidFill>
                <a:latin typeface="Arial"/>
                <a:cs typeface="Arial"/>
              </a:rPr>
              <a:t>YOU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</TotalTime>
  <Words>801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About me</vt:lpstr>
      <vt:lpstr>Business Objectives</vt:lpstr>
      <vt:lpstr>Web-Scrapping : Details</vt:lpstr>
      <vt:lpstr>Data Summary</vt:lpstr>
      <vt:lpstr>Data Cleaning</vt:lpstr>
      <vt:lpstr>Distribution of Book Prices</vt:lpstr>
      <vt:lpstr>Average Book Price by Rating</vt:lpstr>
      <vt:lpstr>Price Distribution by Rating</vt:lpstr>
      <vt:lpstr>Distribution of Book Ratings</vt:lpstr>
      <vt:lpstr>Challenges</vt:lpstr>
      <vt:lpstr>Conclusions and 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Eazydiner_EDA_final.ppt</dc:title>
  <dc:creator>VSR07</dc:creator>
  <cp:lastModifiedBy>Vishal Raut</cp:lastModifiedBy>
  <cp:revision>12</cp:revision>
  <dcterms:created xsi:type="dcterms:W3CDTF">2025-12-31T05:42:55Z</dcterms:created>
  <dcterms:modified xsi:type="dcterms:W3CDTF">2025-12-31T11:13:36Z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2025-12-29T00:00:00Z</vt:filetime>
  </property>
  <property fmtid="{D5CDD505-2E9C-101B-9397-08002B2CF9AE}" pid="3" name="Creator">
    <vt:lpwstr>Keynote</vt:lpwstr>
  </property>
  <property fmtid="{D5CDD505-2E9C-101B-9397-08002B2CF9AE}" pid="4" name="LastSaved">
    <vt:filetime>2025-12-31T00:00:00Z</vt:filetime>
  </property>
  <property fmtid="{D5CDD505-2E9C-101B-9397-08002B2CF9AE}" pid="5" name="Producer">
    <vt:lpwstr>macOS Version 26.2 (Build 25C56) Quartz PDFContext</vt:lpwstr>
  </property>
</Properties>
</file>